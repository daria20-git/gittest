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E8DCB-A768-0E4B-B8CC-3411F0F7C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9E885B-5EB2-EFB4-7921-3C80E3F45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590452-03E5-6CF6-C3D1-561A5B8A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CA709B-E681-9E5F-3F1B-305B8F36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755970-AB12-DCBD-2D48-F4B477AC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55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B7533-CC56-851D-4D23-F1E2708A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371A4A-4A7A-69FF-F08D-C207900B9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3783DF-F144-7562-3AF3-D7D7CE5E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0447ED-5D87-BF10-65CE-DA833B1B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33BB5-EFE2-A5FB-15AE-B62E5184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3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00B23-0D3D-BDA4-C7E1-2E61F086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AA00DD-6933-DB3A-1381-CFF007C3E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FC94A7-9CB3-8FE9-3387-26EF655F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15F93-A679-8A3F-3FF1-EB235773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B66AF-4B81-2A9A-3C2D-A44DBB71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08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60A68-8D0A-23AD-B889-F7FF76D6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3651C-28FD-147B-9820-3F85098CD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49EA69-CDC5-42F9-C952-F662D6B68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B756E2-E42A-4135-06A9-4ABE1F5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B7C159-4096-D171-0034-2E798A2D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7D2156-C518-6AF8-CC8F-2F58E0DB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28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A5EFD-E757-5163-BC01-9155B587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48AC41-B885-B975-E39A-EC9DB0B0D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1EC5F9-8336-5EFD-92FF-64CDA1C3B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63F451-3FC4-05D4-4896-CBCBF2924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83934D-AB9A-FC5E-68B0-B3384853A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B174BB-D2E6-2EDD-5700-AAF0BBB5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31951D-E09C-5C9C-0F0D-9C698812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780A07-9BFE-F6D0-F443-E805A2AB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83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BE804-8B68-4AB0-F145-F909C8B2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FF75C4-BF2B-6F32-3B8B-C5E95B4B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81B459-4B60-FA14-4045-A6979BF9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F14A67-8BE1-EC34-840D-95D3B73F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20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BBAC54-59F3-D74F-1655-3D8E429F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C3BC69-335C-CCC3-126C-3808AEF9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88D45F-0A8A-3CBF-F521-D10A0C75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47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BED3B-05D5-BAD7-784D-EE7D2C42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E718F-4DA9-FB9E-5662-A95A98269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7B51CF-36C5-E4D5-DDBD-5D9EB9162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53B367-C837-AD04-B99A-D060B2CD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B418C9-F768-690E-EA4E-3BFF6095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7A463C-E7AC-0A81-40E3-D6E3C7E9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95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6DE77-D202-FEEF-C093-EE229655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9F996A-7539-46D2-82D9-DAFF37A9E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4987CA-112C-3A02-7835-6F348C567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424DCF-0230-49CB-1999-7B1FB9B6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DD0C7-69C5-149C-A3A8-A597D1E0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6D8FA6-AA60-DFB0-8570-AE402229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61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F11F1-FCE5-F748-DDD4-3531A31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966972-F228-5780-8BD6-27C1B8BB0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C1273-32AE-2D28-21BE-C282497F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BCD186-84CA-540E-5E55-77DE419E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DE2D2C-77CA-145F-58FD-A4A42B6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458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8BA58B5-99EA-E7CD-5F95-59AC60648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48EBA0-2CB3-B116-0122-35AEAE433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0F32DB-6F14-56B4-320C-DC52321D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FA42FB-D867-17B6-FFF5-2DFBB0CF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562E68-EB9A-8704-4460-CFE7AC96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38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E5277-CC2D-98BB-FA81-F715D31A5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41C2B2-D535-31B0-2262-C974577C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26676-A368-96D7-6F97-0D76AC3C2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9F1D7-344C-4A29-B4A4-2981AB253B9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8B07A3-45AD-E9BA-CFB9-D87318595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5845E8-03F6-805D-E377-59FA783BD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65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0698E-28CD-3EB0-96C9-FB3FE6C40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934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Роль и место ОС в архитектуре вычислительных систем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E5FC84-3E83-C894-CF59-73E88EEA5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3529"/>
            <a:ext cx="9144000" cy="1655762"/>
          </a:xfrm>
        </p:spPr>
        <p:txBody>
          <a:bodyPr/>
          <a:lstStyle/>
          <a:p>
            <a:r>
              <a:rPr lang="ru-RU" dirty="0"/>
              <a:t>Презентацию подготовила студентка 2 курса группы БПИ241 Сайженкова Даша</a:t>
            </a:r>
          </a:p>
        </p:txBody>
      </p:sp>
    </p:spTree>
    <p:extLst>
      <p:ext uri="{BB962C8B-B14F-4D97-AF65-F5344CB8AC3E}">
        <p14:creationId xmlns:p14="http://schemas.microsoft.com/office/powerpoint/2010/main" val="124584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46C123B-9678-380B-D913-87F79AC0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6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Операционная система (ОС) </a:t>
            </a:r>
            <a:r>
              <a:rPr lang="ru-RU" dirty="0"/>
              <a:t>играет важную роль в архитектуре вычислительных систем, выступая как посредник между аппаратным обеспечением и прикладным программным обеспечением.</a:t>
            </a:r>
          </a:p>
          <a:p>
            <a:pPr marL="0" indent="0">
              <a:buNone/>
            </a:pPr>
            <a:r>
              <a:rPr lang="ru-RU" dirty="0"/>
              <a:t>В логической структуре типичной вычислительной системы ОС занимает положение между устройствами с их микроархитектурой, машинным языком и, возможно, собственными микропрограммами (драйверами) — с одной стороны — и прикладными программами — с другой.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072719CD-0DB9-8871-39D9-9EF95701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882" y="4443288"/>
            <a:ext cx="3135273" cy="17927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92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5767C-5F71-FB27-A050-EF1F6CFE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DA77A-A1F5-0DE9-EC4D-8953CACFE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699241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Некоторые функции ОС в архитектуре вычислительных систем:</a:t>
            </a:r>
          </a:p>
          <a:p>
            <a:r>
              <a:rPr lang="ru-RU" sz="2400" b="1" dirty="0"/>
              <a:t>Управление ресурсами</a:t>
            </a:r>
            <a:r>
              <a:rPr lang="ru-RU" sz="2400" dirty="0"/>
              <a:t>. ОС распределяет доступ к ресурсам: процессорному времени, оперативной памяти, устройствам ввода-вывода и другим. Например: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000" i="1" dirty="0"/>
              <a:t>Процессорное время </a:t>
            </a:r>
            <a:r>
              <a:rPr lang="ru-RU" sz="2000" dirty="0"/>
              <a:t>— ОС определяет, какой процесс получит доступ к CPU и на какой интервал времени, используя различные алгоритмы планирования. 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000" i="1" dirty="0"/>
              <a:t>Оперативная память </a:t>
            </a:r>
            <a:r>
              <a:rPr lang="ru-RU" sz="2000" dirty="0"/>
              <a:t>— контроль выделения, освобождения и защиты областей памяти, реализация механизмов виртуальной памяти, свопинга и подкачки страниц.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000" i="1" dirty="0"/>
              <a:t>Устройства ввода-вывода </a:t>
            </a:r>
            <a:r>
              <a:rPr lang="ru-RU" sz="2000" dirty="0"/>
              <a:t>— организация очередей запросов к устройствам, буферизация данных, абстрагирование специфики конкретного оборудования.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8E2E85-5A88-9243-5A0B-B1F6D8E3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28" y="5389929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26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600D-BA86-6B5E-8FEF-048CA150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F89E5-A41C-A337-60EC-30A898EB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9FE13-144D-ABAA-5D6A-6BF7A0FF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398"/>
            <a:ext cx="10515600" cy="4486275"/>
          </a:xfrm>
        </p:spPr>
        <p:txBody>
          <a:bodyPr/>
          <a:lstStyle/>
          <a:p>
            <a:r>
              <a:rPr lang="ru-RU" sz="2400" b="1" dirty="0"/>
              <a:t>Файловая система</a:t>
            </a:r>
            <a:r>
              <a:rPr lang="ru-RU" sz="2400" dirty="0"/>
              <a:t> — организация хранения, поиска, создания, удаления файлов и каталогов. </a:t>
            </a:r>
          </a:p>
          <a:p>
            <a:r>
              <a:rPr lang="ru-RU" sz="2400" b="1" dirty="0"/>
              <a:t>Обеспечение многозадачности</a:t>
            </a:r>
            <a:r>
              <a:rPr lang="ru-RU" sz="2400" dirty="0"/>
              <a:t> — одновременная работа нескольких программ. </a:t>
            </a:r>
          </a:p>
          <a:p>
            <a:r>
              <a:rPr lang="ru-RU" sz="2400" b="1" dirty="0"/>
              <a:t>Обеспечение безопасности</a:t>
            </a:r>
            <a:r>
              <a:rPr lang="ru-RU" sz="2400" dirty="0"/>
              <a:t> — контроль доступа к файлам и программам. </a:t>
            </a:r>
          </a:p>
          <a:p>
            <a:r>
              <a:rPr lang="ru-RU" sz="2400" b="1" dirty="0"/>
              <a:t>Сетевое взаимодействие</a:t>
            </a:r>
            <a:r>
              <a:rPr lang="ru-RU" sz="2400" dirty="0"/>
              <a:t> — поддержка передачи данных по локальным и глобальным сетям. </a:t>
            </a:r>
          </a:p>
          <a:p>
            <a:r>
              <a:rPr lang="ru-RU" sz="2400" b="1" dirty="0"/>
              <a:t>Диалог с пользователем</a:t>
            </a:r>
            <a:r>
              <a:rPr lang="ru-RU" sz="2400" dirty="0"/>
              <a:t> — графический (GUI) или командный (CLI) интерфейс. 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8589CA-F508-4793-A492-0B093DD0B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833" y="5070135"/>
            <a:ext cx="1106828" cy="110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1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630BF-8A97-022B-8FA4-8F416341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Компоненты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AD93A-25D0-2E40-58C2-4C9B08269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600" dirty="0"/>
              <a:t>Некоторые компоненты ОС:</a:t>
            </a:r>
          </a:p>
          <a:p>
            <a:r>
              <a:rPr lang="ru-RU" sz="2600" b="1" dirty="0"/>
              <a:t>Ядро</a:t>
            </a:r>
            <a:r>
              <a:rPr lang="ru-RU" sz="2600" dirty="0"/>
              <a:t> — центральный компонент, работающий в привилегированном режиме и обеспечивающий базовые функции управления ресурсами.</a:t>
            </a:r>
          </a:p>
          <a:p>
            <a:r>
              <a:rPr lang="ru-RU" sz="2600" b="1" dirty="0"/>
              <a:t>Планировщик процессов</a:t>
            </a:r>
            <a:r>
              <a:rPr lang="ru-RU" sz="2600" dirty="0"/>
              <a:t> — алгоритмический модуль, распределяющий процессорное время между конкурирующими процессами.</a:t>
            </a:r>
          </a:p>
          <a:p>
            <a:r>
              <a:rPr lang="ru-RU" sz="2600" b="1" dirty="0"/>
              <a:t>Система управления памятью</a:t>
            </a:r>
            <a:r>
              <a:rPr lang="ru-RU" sz="2600" dirty="0"/>
              <a:t> — контролирует распределение оперативной памяти, реализует механизмы виртуальной памяти и защиты адресного пространства.</a:t>
            </a:r>
          </a:p>
          <a:p>
            <a:r>
              <a:rPr lang="ru-RU" sz="2600" b="1" dirty="0"/>
              <a:t>Драйверы устройств</a:t>
            </a:r>
            <a:r>
              <a:rPr lang="ru-RU" sz="2600" dirty="0"/>
              <a:t> — программные интерфейсы для взаимодействия с периферийным оборудованием.</a:t>
            </a:r>
          </a:p>
          <a:p>
            <a:r>
              <a:rPr lang="ru-RU" sz="2600" b="1" dirty="0"/>
              <a:t>Системные библиотеки</a:t>
            </a:r>
            <a:r>
              <a:rPr lang="ru-RU" sz="2600" dirty="0"/>
              <a:t> — предоставляют API для разработчиков приложений, скрывая сложность низкоуровневых операций.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99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66D39-4B61-2D59-2E03-DC2120BB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Классификация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19EAA6-647A-7A25-1CDE-71E325F22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Существует несколько архитектур операционных систем: </a:t>
            </a:r>
          </a:p>
          <a:p>
            <a:r>
              <a:rPr lang="ru-RU" b="1" dirty="0"/>
              <a:t>Монолитные ОС</a:t>
            </a:r>
            <a:r>
              <a:rPr lang="ru-RU" dirty="0"/>
              <a:t> (Linux) — выполняют все системные функции в привилегированном режиме ядра.</a:t>
            </a:r>
          </a:p>
          <a:p>
            <a:r>
              <a:rPr lang="ru-RU" b="1" dirty="0" err="1"/>
              <a:t>Микроядерные</a:t>
            </a:r>
            <a:r>
              <a:rPr lang="ru-RU" b="1" dirty="0"/>
              <a:t> системы</a:t>
            </a:r>
            <a:r>
              <a:rPr lang="ru-RU" dirty="0"/>
              <a:t> (QNX) — минимизируют код ядра, вынося большинство функций в пользовательское пространство.</a:t>
            </a:r>
          </a:p>
          <a:p>
            <a:r>
              <a:rPr lang="ru-RU" b="1" dirty="0"/>
              <a:t>Гибридные ОС</a:t>
            </a:r>
            <a:r>
              <a:rPr lang="ru-RU" dirty="0"/>
              <a:t> (Windows, </a:t>
            </a:r>
            <a:r>
              <a:rPr lang="ru-RU" dirty="0" err="1"/>
              <a:t>macOS</a:t>
            </a:r>
            <a:r>
              <a:rPr lang="ru-RU" dirty="0"/>
              <a:t>) — сочетают элементы обоих подходов, стремясь к оптимальному балансу между производительностью и модульностью.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25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4465A-2C83-E837-A279-FB59535B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Безопасность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2966E2-85AD-FAAF-2EA6-7DC2EE27A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ОС реализует </a:t>
            </a:r>
            <a:r>
              <a:rPr lang="ru-RU" b="1" dirty="0"/>
              <a:t>механизмы защиты</a:t>
            </a:r>
            <a:r>
              <a:rPr lang="ru-RU" dirty="0"/>
              <a:t> системы от несанкционированного доступа и управляет правами пользователей. Некоторые меры безопасности, встроенные в современные операционные системы: </a:t>
            </a:r>
          </a:p>
          <a:p>
            <a:r>
              <a:rPr lang="ru-RU" b="1" dirty="0"/>
              <a:t>Контроль доступа</a:t>
            </a:r>
            <a:r>
              <a:rPr lang="ru-RU" dirty="0"/>
              <a:t>.</a:t>
            </a:r>
          </a:p>
          <a:p>
            <a:r>
              <a:rPr lang="ru-RU" b="1" dirty="0"/>
              <a:t>Шифрование данных</a:t>
            </a:r>
            <a:r>
              <a:rPr lang="ru-RU" dirty="0"/>
              <a:t> — защита данных на уровне устройства и при передаче по сети помогает предотвратить их утечку или несанкционированный доступ.</a:t>
            </a:r>
          </a:p>
          <a:p>
            <a:r>
              <a:rPr lang="ru-RU" b="1" dirty="0"/>
              <a:t>Системы обнаружения и предотвращения вторжений</a:t>
            </a:r>
            <a:r>
              <a:rPr lang="ru-RU" dirty="0"/>
              <a:t> — мониторинг сетевого трафика и активности системы позволяет выявлять и блокировать попытки несанкционированного доступа.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E5A9D3-FB3F-2DBB-B2C9-6CC202B5F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42" y="2726719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8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355B3-1CBF-0F9C-AE53-DA853DA0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7A488B-8C1B-031B-D3C8-3B68F58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Таким образом, операционная система играет важную роль в архитектуре вычислительных систем. Она выступает в роли координатора всех аппаратных ресурсов компьютерной системы, распределяет их между конкурирующими процессами. В логической структуре типичной вычислительной системы ОС занимает положение между устройствами с их микроархитектурой, машинным языком и, возможно, собственными микропрограммами (драйверами) — с одной стороны, и прикладными программами — с другой. </a:t>
            </a:r>
          </a:p>
          <a:p>
            <a:pPr marL="0" indent="0">
              <a:buNone/>
            </a:pPr>
            <a:r>
              <a:rPr lang="ru-RU" dirty="0"/>
              <a:t>В большинстве вычислительных систем </a:t>
            </a:r>
            <a:r>
              <a:rPr lang="ru-RU" u="sng" dirty="0"/>
              <a:t>ОС</a:t>
            </a:r>
            <a:r>
              <a:rPr lang="ru-RU" dirty="0"/>
              <a:t> — основная, наиболее важная (а иногда и единственная) часть системного программного обеспечения. </a:t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115B2B-00AE-770F-B5A4-0E16CC8D3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805" y="5387011"/>
            <a:ext cx="1105864" cy="110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12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530</Words>
  <Application>Microsoft Office PowerPoint</Application>
  <PresentationFormat>Широкоэкранный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Тема Office</vt:lpstr>
      <vt:lpstr>Роль и место ОС в архитектуре вычислительных систем</vt:lpstr>
      <vt:lpstr>Презентация PowerPoint</vt:lpstr>
      <vt:lpstr>Функции</vt:lpstr>
      <vt:lpstr>Функции</vt:lpstr>
      <vt:lpstr>Компоненты</vt:lpstr>
      <vt:lpstr>Классификация</vt:lpstr>
      <vt:lpstr>Безопасность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Даша Сайженкова</dc:creator>
  <cp:lastModifiedBy>Даша Сайженкова</cp:lastModifiedBy>
  <cp:revision>5</cp:revision>
  <dcterms:created xsi:type="dcterms:W3CDTF">2026-02-18T08:02:28Z</dcterms:created>
  <dcterms:modified xsi:type="dcterms:W3CDTF">2026-03-04T10:24:00Z</dcterms:modified>
</cp:coreProperties>
</file>